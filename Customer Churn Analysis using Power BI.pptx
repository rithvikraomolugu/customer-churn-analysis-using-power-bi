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6" r:id="rId3"/>
    <p:sldId id="284" r:id="rId4"/>
    <p:sldId id="277" r:id="rId5"/>
    <p:sldId id="278" r:id="rId6"/>
    <p:sldId id="279" r:id="rId7"/>
    <p:sldId id="285" r:id="rId8"/>
    <p:sldId id="287" r:id="rId9"/>
    <p:sldId id="281" r:id="rId10"/>
    <p:sldId id="286" r:id="rId11"/>
    <p:sldId id="282" r:id="rId12"/>
    <p:sldId id="283" r:id="rId13"/>
    <p:sldId id="288" r:id="rId14"/>
    <p:sldId id="259" r:id="rId15"/>
  </p:sldIdLst>
  <p:sldSz cx="12192000" cy="6858000"/>
  <p:notesSz cx="6858000" cy="9144000"/>
  <p:embeddedFontLst>
    <p:embeddedFont>
      <p:font typeface="Libre Baskerville" panose="02000000000000000000" pitchFamily="2" charset="0"/>
      <p:regular r:id="rId17"/>
      <p:bold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4HmEECUlll0m8HTY06QsqsmZGG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thvik Rao Molugu" initials="RM" lastIdx="1" clrIdx="0">
    <p:extLst>
      <p:ext uri="{19B8F6BF-5375-455C-9EA6-DF929625EA0E}">
        <p15:presenceInfo xmlns:p15="http://schemas.microsoft.com/office/powerpoint/2012/main" userId="695562997b34e8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E3837-BD96-4837-901A-33AE15A5F11B}" v="1" dt="2026-01-03T06:29:32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D02807F-3B6E-DA60-8BBB-30170225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6DC9CA2-19D7-C395-CF12-3F1791318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174C3CD-996B-A84D-2F8B-1D5B1A161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967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04440EA-AC91-019F-0FB6-0139AF82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3119113-AB57-9769-5050-99FE2EE51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9FFF99A-EB75-D21F-ACD4-0822807BB4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059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C164B1-970C-71E7-BCB8-47517677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14FC451-6E92-0122-C802-306B71D01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0D61FBB-3B12-2F64-DC7B-640B0DF6F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3915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C37498-26CB-3E9E-320C-F5C1C597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552A63B-FBEF-4126-01E6-BD36BDE8B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03FE55-3CAD-308B-63D2-0EA253B80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4385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45BB324-2AAA-5224-BEE2-0872D8873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DCD4A5E-74D7-5068-7A5E-90C9D8F1C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B0E2400-EDAA-9076-0BD7-67EB1BAB0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5426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F936B61-1032-618C-93D5-0027A192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DAB3037-7C31-74CE-F847-83D0EF0B1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6F5122A-3AC5-DBCE-A813-69D65674C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8683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A508757-90A5-D6B5-D265-25554280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501477E-FD0C-082A-78CC-D4272C55C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0F02AC8-52F6-D76D-F1B8-1FE820638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4081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A7BA68A-F734-0FEB-4353-DB228099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0E4AC48-4020-F50D-7309-9E189D652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56B3B1E-803C-6333-9A60-3D574FC46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5549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17A0B1C-0479-BDD6-C5DF-74630F28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FB1680A-7669-7BB2-BB8F-83087C58D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9571032-F966-79F1-FE0E-0C27A5E1E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8851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28D540C-9E14-CF4C-FFA4-950345EC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EEE447D-B2BC-ABCE-46F4-714948FFD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2D9F3B9-5AEF-5DAF-4CE7-4A889094F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0383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FABCDF-5D65-C321-06B9-3386D07D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C75384E-BB3F-E1C7-F7F4-E100D4569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A589A88-6EFE-3CAB-843E-41FEF4B29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0037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0263647-4B44-49DA-1BF2-95D93201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C9213D3-EF6C-BE6C-01FD-556088A462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224254E-30DD-4624-83D4-BDF2B6CED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715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934"/>
            <a:ext cx="121914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812254"/>
            <a:ext cx="724618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“Customer Churn Analysis usin</a:t>
            </a:r>
            <a:r>
              <a:rPr lang="en-IN" sz="36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 Power BI”</a:t>
            </a:r>
          </a:p>
        </p:txBody>
      </p:sp>
      <p:sp>
        <p:nvSpPr>
          <p:cNvPr id="2" name="Google Shape;99;p1">
            <a:extLst>
              <a:ext uri="{FF2B5EF4-FFF2-40B4-BE49-F238E27FC236}">
                <a16:creationId xmlns:a16="http://schemas.microsoft.com/office/drawing/2014/main" id="{449144FF-29B1-35F0-28F4-BD4EE11051C4}"/>
              </a:ext>
            </a:extLst>
          </p:cNvPr>
          <p:cNvSpPr txBox="1"/>
          <p:nvPr/>
        </p:nvSpPr>
        <p:spPr>
          <a:xfrm>
            <a:off x="8249978" y="5203536"/>
            <a:ext cx="293823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Char char="-"/>
            </a:pP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M. Rithvik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Char char="-"/>
            </a:pP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M. Rakesh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A01FA04-A69A-48FC-6EF7-DD2260F7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C53CB75-C2C5-27A0-7C35-89D74E8C1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4A93F5B-9880-9C20-3277-F063CBAE4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599" y="910663"/>
            <a:ext cx="8424333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 Insights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Subscription Insights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&amp; Billing Insights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67981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47BBD32-101E-3CEF-3324-98D7E73F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5F86DC6-9BB5-7542-AA7A-FA4FC1F5F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411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EAEA361-6E29-090E-5698-C4DDD8CC5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133" y="838201"/>
            <a:ext cx="12005733" cy="204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refers to the customers discontinuing a company’s services over time.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directly affects revenue, profitability, and long-term business growth.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Acquiring new customers is significantly more expensive than retaining existing ones.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churn due to multiple factors such as pricing, contracts, and service experience.</a:t>
            </a:r>
          </a:p>
        </p:txBody>
      </p:sp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8E2D18A1-3D60-64A0-2AA4-96D4E8A7F6DF}"/>
              </a:ext>
            </a:extLst>
          </p:cNvPr>
          <p:cNvSpPr txBox="1">
            <a:spLocks/>
          </p:cNvSpPr>
          <p:nvPr/>
        </p:nvSpPr>
        <p:spPr>
          <a:xfrm>
            <a:off x="-1" y="288713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FF0000"/>
              </a:buClr>
              <a:buSzPts val="4400"/>
            </a:pP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6" name="Google Shape;111;p4">
            <a:extLst>
              <a:ext uri="{FF2B5EF4-FFF2-40B4-BE49-F238E27FC236}">
                <a16:creationId xmlns:a16="http://schemas.microsoft.com/office/drawing/2014/main" id="{C9A638DC-3860-2AA3-7CBA-ED42C838A877}"/>
              </a:ext>
            </a:extLst>
          </p:cNvPr>
          <p:cNvSpPr txBox="1">
            <a:spLocks/>
          </p:cNvSpPr>
          <p:nvPr/>
        </p:nvSpPr>
        <p:spPr>
          <a:xfrm>
            <a:off x="93133" y="3701923"/>
            <a:ext cx="12005733" cy="255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churn behavior by examining customer demographics, service usage, and billing information. 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key factors and patterns that influence customers’ decisions to discontinue the service.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into different groups to understand which segments are most likely to churn.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 that can help businesses improve customer retention and reduce revenue loss.</a:t>
            </a:r>
          </a:p>
        </p:txBody>
      </p:sp>
    </p:spTree>
    <p:extLst>
      <p:ext uri="{BB962C8B-B14F-4D97-AF65-F5344CB8AC3E}">
        <p14:creationId xmlns:p14="http://schemas.microsoft.com/office/powerpoint/2010/main" val="311953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FD15591-8875-7A83-BFDC-96225B27B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E9F9769-3A23-909C-4DAA-D7F1B42137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85D3B66-6601-9E6D-74E9-C9488598E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4"/>
            <a:ext cx="11921066" cy="251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uses the Telco Customer Churn dataset containing customer-level information.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7,043 customer records with a churn indicator for each customer.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demographic attributes such as gender, senior citizen status, and dependents.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Service-related details cover internet type, phone service, and additional subscriptions.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and billing information includes contract type, payment method, and charges.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F22EE-A9E5-14A2-22CA-0D58305348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" r="43648"/>
          <a:stretch>
            <a:fillRect/>
          </a:stretch>
        </p:blipFill>
        <p:spPr>
          <a:xfrm>
            <a:off x="533397" y="3670634"/>
            <a:ext cx="5358636" cy="20173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C77ECBB-3224-061A-BA75-E5BA5052C2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9969" y="3670634"/>
            <a:ext cx="5358637" cy="20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6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7FDC177-88F1-7D4F-01BA-00D815A6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FDE5B3B-3AF3-D66B-AEE0-56C770C58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D4772A7B-39DE-BC0E-A752-3483B9184F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3" y="910663"/>
            <a:ext cx="11836399" cy="295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dataset was reviewed to identify missing values and data type inconsistencies.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field was converted from text to numeric for accurate calculations.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 was grouped into meaningful ranges to analyze churn behavior over time.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such as churn rate, average charges, and customer counts were created using DAX.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were standardized to ensure consistency across visuals and filters.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prepared data was used to build analytical visuals that highlight the churn patterns.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173C9-F03F-89BA-DC15-952E9CCB6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706" y="3941730"/>
            <a:ext cx="6956051" cy="23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2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7BBDDBB-4DEA-0261-375C-62F3AAE7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A6D23-2EF0-93C5-3E42-65F5C8592F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8133" y="423333"/>
            <a:ext cx="10735734" cy="57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4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3A47F77-F83D-66D2-5B9A-997B5286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1BBCB1E-AC54-C655-B377-70E5289D4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Insights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8CA3996-5B93-B9A7-0BCB-66E6474F4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3" y="910663"/>
            <a:ext cx="11870267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is almost evenly split between male and female customers, showing no major gender imbalance.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rates are nearly the same across genders, indicating that gender alone is not a strong churn driver.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 very short tenure (0–1 year) show the highest churn rate, close to half of the customers in that group.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steadily decreases as tenure increases, with long-term customers showing much stronger retention.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citizens contribute a smaller portion of the customer base but exhibit a noticeably higher churn tendency.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customer tenure has a much stronger influence on churn behavior than gender differences.</a:t>
            </a:r>
          </a:p>
        </p:txBody>
      </p:sp>
    </p:spTree>
    <p:extLst>
      <p:ext uri="{BB962C8B-B14F-4D97-AF65-F5344CB8AC3E}">
        <p14:creationId xmlns:p14="http://schemas.microsoft.com/office/powerpoint/2010/main" val="67913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ED6566-68BE-2CFE-8142-70079B33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45B6F-DBAA-6D65-824A-3FF85E1AA7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6542" y="423333"/>
            <a:ext cx="10268115" cy="57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2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96C52A4-B801-54F7-BA70-21FE3D82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DB71490-8C75-92DF-5002-9578B2572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Subscription Insights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0D256A6-FAE7-4B47-8901-4E065E5D4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3" y="910663"/>
            <a:ext cx="11709399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fiber optic internet exhibit a significantly higher churn rate compared to other internet types.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DSL internet show moderate churn, while customers without internet have the lowest churn rate.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online security is strongly associated with higher customer churn.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subscribe to additional services tend to show better retention behavior.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experience plays a critical role in influencing customer churn decisions.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service quality and add-on adoption can help reduce churn rates.</a:t>
            </a:r>
          </a:p>
        </p:txBody>
      </p:sp>
    </p:spTree>
    <p:extLst>
      <p:ext uri="{BB962C8B-B14F-4D97-AF65-F5344CB8AC3E}">
        <p14:creationId xmlns:p14="http://schemas.microsoft.com/office/powerpoint/2010/main" val="167642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497304F-26C4-AA92-5F92-227AE083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761B6-6E7E-F908-A6F5-5F4B0E24EA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3150" y="423333"/>
            <a:ext cx="10314899" cy="57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4861ACA-B6A4-7A13-FDAE-1ACD520B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F234A89-65D4-6751-C332-9E6FF6F592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&amp; Billing Insights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B88A8AB-FC47-546E-2253-385CC823E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3"/>
            <a:ext cx="11819466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on month-to-month contracts exhibit the highest churn rate among all contract types.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One-year and two-year contract customers show significantly better retention behavior.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contract durations are associated with increased customer stability and loyalty.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electronic check as a payment method have higher churn compared to other methods.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billing customers demonstrate a relatively higher churn tendency.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structure and billing preferences strongly influence customer retention outcomes.</a:t>
            </a:r>
          </a:p>
        </p:txBody>
      </p:sp>
    </p:spTree>
    <p:extLst>
      <p:ext uri="{BB962C8B-B14F-4D97-AF65-F5344CB8AC3E}">
        <p14:creationId xmlns:p14="http://schemas.microsoft.com/office/powerpoint/2010/main" val="172850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D0B9233-2C50-E801-B21B-50D3E5A2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95F415C-1FBC-3808-FCC9-1E81FA3F2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D6D5911-76C0-F3C5-7348-DB55A412E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3"/>
            <a:ext cx="11717866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customers to move from month-to-month contracts to longer-term plans by offering discounts or bundled benefits.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service quality and reliability of fiber optic internet, as this segment shows the highest churn rate.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online security and add-on services to customers who do not currently subscribe, as these customers churn more frequently.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efforts on new and short-tenure customers through early engagement and personalized offers.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targeted support programs for high-risk customer segments, such as senior citizens and fiber optic users. 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billing preferences and incentivize more stable payment methods to reduce churn linked to electronic check usage.</a:t>
            </a:r>
          </a:p>
        </p:txBody>
      </p:sp>
    </p:spTree>
    <p:extLst>
      <p:ext uri="{BB962C8B-B14F-4D97-AF65-F5344CB8AC3E}">
        <p14:creationId xmlns:p14="http://schemas.microsoft.com/office/powerpoint/2010/main" val="400782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327828B-35F0-07C5-462D-113787CF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1369E9C-9DC5-06D9-176D-904D5B9F9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4944"/>
            <a:ext cx="12192000" cy="81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CF9E294-86C6-7BB3-3642-E2E111539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534" y="910663"/>
            <a:ext cx="11717866" cy="503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in this dataset is driven primarily by tenure, contract type, and service usage patterns.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and month-to-month contract users represent the highest churn risk across the customer base.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internet users and customers without online security exhibit significantly higher churn behavior.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factors such as gender have minimal impact, while tenure and age-related factors play a larger role.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structure and billing preferences strongly influence customer retention and revenue stability.</a:t>
            </a:r>
          </a:p>
          <a:p>
            <a:pPr algn="just">
              <a:lnSpc>
                <a:spcPct val="1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using Power BI provides clear insights that can support effective churn reduction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830147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2011841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59841" y="2698161"/>
            <a:ext cx="3661836" cy="1461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809</Words>
  <Application>Microsoft Office PowerPoint</Application>
  <PresentationFormat>Widescreen</PresentationFormat>
  <Paragraphs>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Calibri</vt:lpstr>
      <vt:lpstr>Arial</vt:lpstr>
      <vt:lpstr>Libre Baskerville</vt:lpstr>
      <vt:lpstr>Office Theme</vt:lpstr>
      <vt:lpstr>PowerPoint Presentation</vt:lpstr>
      <vt:lpstr>Agenda</vt:lpstr>
      <vt:lpstr>Problem Statement</vt:lpstr>
      <vt:lpstr>Dataset Overview</vt:lpstr>
      <vt:lpstr>Data Preprocessing</vt:lpstr>
      <vt:lpstr>PowerPoint Presentation</vt:lpstr>
      <vt:lpstr>Customer Demographics Insights</vt:lpstr>
      <vt:lpstr>PowerPoint Presentation</vt:lpstr>
      <vt:lpstr>Service Subscription Insights</vt:lpstr>
      <vt:lpstr>PowerPoint Presentation</vt:lpstr>
      <vt:lpstr>Contract &amp; Billing Insights</vt:lpstr>
      <vt:lpstr>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Rithvik Rao Molugu</cp:lastModifiedBy>
  <cp:revision>17</cp:revision>
  <dcterms:created xsi:type="dcterms:W3CDTF">2021-02-16T05:19:01Z</dcterms:created>
  <dcterms:modified xsi:type="dcterms:W3CDTF">2026-01-03T09:30:07Z</dcterms:modified>
</cp:coreProperties>
</file>